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70" r:id="rId9"/>
    <p:sldId id="271" r:id="rId10"/>
    <p:sldId id="269" r:id="rId11"/>
    <p:sldId id="272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7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BB29B-BD79-4601-9F03-059B7C58BF5C}" v="1907" dt="2021-05-16T04:27:01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231AB-A81E-4B46-9ABB-966570C35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B35470-BDBB-4A42-BD1F-3B341DDAE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011CED-ACCB-4235-82E5-009B0D97A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F107-06D6-4B10-B2DC-AF9B94683C48}" type="datetimeFigureOut">
              <a:rPr lang="pt-BR" smtClean="0"/>
              <a:t>15/05/2021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9A5F1F-2B16-44AB-9788-1EEC981CA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6C622B-C07C-4B32-82AB-B11D8D30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0AB4-8719-4871-B3F0-3492773EA4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074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39ECE-53FD-4622-BC40-3DF58F91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8A1B23-D29C-4016-BA46-304C7A713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C3E01D-D982-4E18-847B-CFA18E50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F107-06D6-4B10-B2DC-AF9B94683C48}" type="datetimeFigureOut">
              <a:rPr lang="pt-BR" smtClean="0"/>
              <a:t>15/05/2021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DCD1C0-B487-45AC-BC44-B2217552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7E2424-3AF0-468E-8EDC-AB24E30FE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0AB4-8719-4871-B3F0-3492773EA4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935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F4B38-790E-4BD8-B577-A1F505D12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5214FF-867A-4DDF-8924-CA439D66A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3AD7A1-7996-49D1-9CFF-86D7EB61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F107-06D6-4B10-B2DC-AF9B94683C48}" type="datetimeFigureOut">
              <a:rPr lang="pt-BR" smtClean="0"/>
              <a:t>15/05/2021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D3E065-B94A-4E12-AAB9-87ADA0336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57AC92-78B0-4F7F-AB14-0B533D274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0AB4-8719-4871-B3F0-3492773EA4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37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D4462-4EAF-4F5D-AFD1-F6191BBC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5F858-822A-491B-8C8C-64EE6C745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75C320-317F-44B0-8312-C1CD2CB6C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EDFFE4-0D61-481E-B547-79462C132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F107-06D6-4B10-B2DC-AF9B94683C48}" type="datetimeFigureOut">
              <a:rPr lang="pt-BR" smtClean="0"/>
              <a:t>15/05/2021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C9A6BD-8E84-4BC4-978F-86309FAE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359368-3880-4CE7-A3B9-B669F2F4C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0AB4-8719-4871-B3F0-3492773EA4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6306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37678-E9EB-440C-844A-23AC475C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F2B5BF-52AD-437B-9183-AB311A670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EDB192-ACDC-49E3-BCFB-70BE8D511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98C2904-597D-4A82-BA06-9DD6ADA6C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6463316-FFF1-43A5-B604-99C7F1FA7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302D9E2-1D16-4E2B-804F-FF99009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F107-06D6-4B10-B2DC-AF9B94683C48}" type="datetimeFigureOut">
              <a:rPr lang="pt-BR" smtClean="0"/>
              <a:t>15/05/2021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1E5BC7-7652-421F-BAAE-4907A580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8B97C24-D1CF-4279-97EA-11C7BC6F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0AB4-8719-4871-B3F0-3492773EA4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7960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D43D2-2CFD-41D8-A412-EE3C6FC3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C85F16E-65CE-446C-B8D9-F4AF29BC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F107-06D6-4B10-B2DC-AF9B94683C48}" type="datetimeFigureOut">
              <a:rPr lang="pt-BR" smtClean="0"/>
              <a:t>15/05/2021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18660A7-9829-4D19-8A56-697A95C6F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95A4AA6-C09B-4F30-8E7B-E22214502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0AB4-8719-4871-B3F0-3492773EA4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362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1661A5-4D31-4F2F-811F-F63F45CA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F107-06D6-4B10-B2DC-AF9B94683C48}" type="datetimeFigureOut">
              <a:rPr lang="pt-BR" smtClean="0"/>
              <a:t>15/05/2021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3269D3E-AC3B-44F7-B5D8-79E94BF2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8B83F8-2657-4CE9-8B3E-F5B479A7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0AB4-8719-4871-B3F0-3492773EA4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48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86896-E4E4-48A0-ABBF-96C941B59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102BB3-216C-4182-BDD5-25037CB87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D6F915-DD7D-4A84-A168-7B912B9F7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726D57-8EAF-4640-8870-105DA715F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F107-06D6-4B10-B2DC-AF9B94683C48}" type="datetimeFigureOut">
              <a:rPr lang="pt-BR" smtClean="0"/>
              <a:t>15/05/2021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BA01D5-866F-4729-A97E-51D5035B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5F09B1-9136-461A-8E38-A7D1B6B3C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0AB4-8719-4871-B3F0-3492773EA4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81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420BC-5D01-4E21-B6E2-5170BA9B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981A440-8DFD-4A77-8C82-0E860F8BE1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C85484-5C36-44A5-8988-B7138AFFA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F0F56E-A255-4D76-8292-0F100802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F107-06D6-4B10-B2DC-AF9B94683C48}" type="datetimeFigureOut">
              <a:rPr lang="pt-BR" smtClean="0"/>
              <a:t>15/05/2021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95EA81-7C20-4ADB-A1D3-35EA403E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FDA1E4-A8FF-4DD6-86BC-E9AC073E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0AB4-8719-4871-B3F0-3492773EA4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975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C5947-3026-4F48-BC54-3891B2BB7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FC6A36-7F50-44FC-8CAA-6E533AD2E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29B916-63A6-4A4A-8FD1-278B9BD52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F107-06D6-4B10-B2DC-AF9B94683C48}" type="datetimeFigureOut">
              <a:rPr lang="pt-BR" smtClean="0"/>
              <a:t>15/05/2021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53C622-D8A6-4F65-832E-8030EAE3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C82430-CC73-40E6-8DB1-25D78BA1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0AB4-8719-4871-B3F0-3492773EA4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793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CA5AF2-1D92-4EDD-8656-C88F21FFA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4C7EAE2-5D16-4FE3-8B32-4B5AC181A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35D71A-B094-470E-A086-15E64A7D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F107-06D6-4B10-B2DC-AF9B94683C48}" type="datetimeFigureOut">
              <a:rPr lang="pt-BR" smtClean="0"/>
              <a:t>15/05/2021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1EF629-5565-474E-8D4C-54809A2D1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887F0B-7093-4416-B8C4-877FF1E7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0AB4-8719-4871-B3F0-3492773EA4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241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5F1E755-F571-4F86-B0FA-D2DA35B9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8C5D09-5618-4F4A-BD15-9821CA140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9BB8AA-A206-4B8D-AA62-2B79C6924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EF107-06D6-4B10-B2DC-AF9B94683C48}" type="datetimeFigureOut">
              <a:rPr lang="pt-BR" smtClean="0"/>
              <a:t>15/05/2021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341E3A-43CF-4060-A0D7-E3211DB90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E4D5DA-6065-4A81-BE58-9D64FCAD4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70AB4-8719-4871-B3F0-3492773EA4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17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FF74AF7-2590-4273-93EE-AB7E46C8FF3A}"/>
              </a:ext>
            </a:extLst>
          </p:cNvPr>
          <p:cNvSpPr txBox="1"/>
          <p:nvPr/>
        </p:nvSpPr>
        <p:spPr>
          <a:xfrm>
            <a:off x="221346" y="1124777"/>
            <a:ext cx="5873412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5400" dirty="0">
                <a:latin typeface="Georgia"/>
              </a:rPr>
              <a:t>O </a:t>
            </a:r>
            <a:r>
              <a:rPr lang="pt-BR" sz="5400" u="sng" dirty="0">
                <a:solidFill>
                  <a:srgbClr val="1172B7"/>
                </a:solidFill>
                <a:latin typeface="Georgia"/>
              </a:rPr>
              <a:t>FIDALGO</a:t>
            </a:r>
            <a:r>
              <a:rPr lang="pt-BR" sz="5400" dirty="0">
                <a:latin typeface="Georgia"/>
              </a:rPr>
              <a:t>: </a:t>
            </a:r>
            <a:endParaRPr lang="pt-BR" sz="5400" dirty="0">
              <a:latin typeface="Georgia" panose="02040502050405020303" pitchFamily="18" charset="0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ARROGANTE;</a:t>
            </a: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SOBERBA;</a:t>
            </a: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OBJETO: CADEIRA.</a:t>
            </a:r>
          </a:p>
          <a:p>
            <a:endParaRPr lang="pt-BR" dirty="0">
              <a:cs typeface="Calibri" panose="020F050202020403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37A0FDA-69BD-4B41-94C7-F529B1B8B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700" y="3726"/>
            <a:ext cx="6091030" cy="685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32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1AFE46C-46B0-4669-BB8B-A2611F499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444" y="-561"/>
            <a:ext cx="6102841" cy="685856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379B7CC-36F0-4663-B15F-5092B3858F15}"/>
              </a:ext>
            </a:extLst>
          </p:cNvPr>
          <p:cNvSpPr txBox="1"/>
          <p:nvPr/>
        </p:nvSpPr>
        <p:spPr>
          <a:xfrm>
            <a:off x="162339" y="471280"/>
            <a:ext cx="5866986" cy="5909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5400" dirty="0">
                <a:latin typeface="Georgia"/>
              </a:rPr>
              <a:t>O </a:t>
            </a:r>
            <a:r>
              <a:rPr lang="pt-BR" sz="5400" u="sng" dirty="0">
                <a:solidFill>
                  <a:srgbClr val="1172B7"/>
                </a:solidFill>
                <a:latin typeface="Georgia"/>
              </a:rPr>
              <a:t>JUDEU</a:t>
            </a:r>
            <a:r>
              <a:rPr lang="pt-BR" sz="5400" dirty="0">
                <a:latin typeface="Georgia"/>
              </a:rPr>
              <a:t>:</a:t>
            </a:r>
            <a:endParaRPr lang="pt-BR" sz="5400" dirty="0">
              <a:latin typeface="Georgia" panose="02040502050405020303" pitchFamily="18" charset="0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PRECONCEITO HISTÓRICO MEDIEVAL;</a:t>
            </a: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AVAREZA;</a:t>
            </a: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OBJETO: BODE ESPIATÓRIO.</a:t>
            </a:r>
          </a:p>
        </p:txBody>
      </p:sp>
    </p:spTree>
    <p:extLst>
      <p:ext uri="{BB962C8B-B14F-4D97-AF65-F5344CB8AC3E}">
        <p14:creationId xmlns:p14="http://schemas.microsoft.com/office/powerpoint/2010/main" val="1836401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AD3B997-B04B-495F-8F9B-D8B10F3E3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485" y="3263"/>
            <a:ext cx="6092273" cy="685556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E2AB812-F2CD-456A-99E1-013D29329080}"/>
              </a:ext>
            </a:extLst>
          </p:cNvPr>
          <p:cNvSpPr txBox="1"/>
          <p:nvPr/>
        </p:nvSpPr>
        <p:spPr>
          <a:xfrm>
            <a:off x="-46597" y="311426"/>
            <a:ext cx="6344893" cy="64633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5400" dirty="0">
                <a:latin typeface="Georgia"/>
              </a:rPr>
              <a:t>A </a:t>
            </a:r>
            <a:r>
              <a:rPr lang="pt-BR" sz="5400" u="sng" dirty="0">
                <a:solidFill>
                  <a:srgbClr val="1172B7"/>
                </a:solidFill>
                <a:latin typeface="Georgia"/>
              </a:rPr>
              <a:t>ALCOVITEIRA</a:t>
            </a:r>
            <a:r>
              <a:rPr lang="pt-BR" sz="5400" dirty="0">
                <a:solidFill>
                  <a:srgbClr val="000000"/>
                </a:solidFill>
                <a:latin typeface="Georgia"/>
              </a:rPr>
              <a:t>:</a:t>
            </a:r>
            <a:endParaRPr lang="pt-BR" sz="5400" dirty="0">
              <a:solidFill>
                <a:srgbClr val="1172B7"/>
              </a:solidFill>
              <a:latin typeface="Georgia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solidFill>
                  <a:srgbClr val="000000"/>
                </a:solidFill>
                <a:latin typeface="Georgia"/>
              </a:rPr>
              <a:t>CORRETORA DE</a:t>
            </a: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solidFill>
                  <a:srgbClr val="000000"/>
                </a:solidFill>
                <a:latin typeface="Georgia"/>
              </a:rPr>
              <a:t>RELAÇÕES AMOROSAS;</a:t>
            </a:r>
            <a:endParaRPr lang="pt-BR" sz="5400">
              <a:solidFill>
                <a:srgbClr val="000000"/>
              </a:solidFill>
              <a:latin typeface="Georgia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solidFill>
                  <a:srgbClr val="000000"/>
                </a:solidFill>
                <a:latin typeface="Georgia"/>
              </a:rPr>
              <a:t>AVAREZA E SOBERBA;</a:t>
            </a:r>
            <a:endParaRPr lang="pt-BR" sz="5400">
              <a:solidFill>
                <a:srgbClr val="000000"/>
              </a:solidFill>
              <a:latin typeface="Georgia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solidFill>
                  <a:srgbClr val="000000"/>
                </a:solidFill>
                <a:latin typeface="Georgia"/>
              </a:rPr>
              <a:t>OBJETO: BAÚ.</a:t>
            </a:r>
          </a:p>
          <a:p>
            <a:endParaRPr lang="pt-BR" sz="3600" dirty="0">
              <a:solidFill>
                <a:srgbClr val="000000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524737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F8E8C95-61E4-4EBA-A161-DDC789F30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515" y="0"/>
            <a:ext cx="6094344" cy="685544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92741D4-A8F6-4F57-BCC4-6844FE62FBD8}"/>
              </a:ext>
            </a:extLst>
          </p:cNvPr>
          <p:cNvSpPr txBox="1"/>
          <p:nvPr/>
        </p:nvSpPr>
        <p:spPr>
          <a:xfrm>
            <a:off x="237711" y="889138"/>
            <a:ext cx="5854148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5400" dirty="0">
                <a:latin typeface="Georgia"/>
              </a:rPr>
              <a:t>O </a:t>
            </a:r>
            <a:r>
              <a:rPr lang="pt-BR" sz="5400" u="sng" dirty="0">
                <a:solidFill>
                  <a:srgbClr val="1172B7"/>
                </a:solidFill>
                <a:latin typeface="Georgia"/>
              </a:rPr>
              <a:t>SAPATEIRO</a:t>
            </a:r>
            <a:r>
              <a:rPr lang="pt-BR" sz="5400" dirty="0">
                <a:latin typeface="Georgia"/>
              </a:rPr>
              <a:t>:</a:t>
            </a:r>
            <a:endParaRPr lang="pt-BR" sz="5400">
              <a:latin typeface="Calibri" panose="020F0502020204030204"/>
              <a:cs typeface="Calibri" panose="020F0502020204030204"/>
            </a:endParaRPr>
          </a:p>
          <a:p>
            <a:pPr marL="571500" indent="-571500">
              <a:buFont typeface="Arial"/>
              <a:buChar char="•"/>
            </a:pPr>
            <a:r>
              <a:rPr lang="pt-BR" sz="5400" dirty="0">
                <a:latin typeface="Georgia"/>
              </a:rPr>
              <a:t>BURGUÊS DESONESTO;</a:t>
            </a:r>
          </a:p>
          <a:p>
            <a:pPr marL="571500" indent="-571500">
              <a:buFont typeface="Arial"/>
              <a:buChar char="•"/>
            </a:pPr>
            <a:r>
              <a:rPr lang="pt-BR" sz="5400" dirty="0">
                <a:latin typeface="Georgia"/>
                <a:cs typeface="Calibri"/>
              </a:rPr>
              <a:t>AVAREZA;</a:t>
            </a:r>
          </a:p>
          <a:p>
            <a:pPr marL="571500" indent="-571500">
              <a:buFont typeface="Arial"/>
              <a:buChar char="•"/>
            </a:pPr>
            <a:r>
              <a:rPr lang="pt-BR" sz="5400" dirty="0">
                <a:latin typeface="Georgia"/>
                <a:cs typeface="Calibri"/>
              </a:rPr>
              <a:t>OBJETO: SAPATOS.</a:t>
            </a:r>
          </a:p>
        </p:txBody>
      </p:sp>
    </p:spTree>
    <p:extLst>
      <p:ext uri="{BB962C8B-B14F-4D97-AF65-F5344CB8AC3E}">
        <p14:creationId xmlns:p14="http://schemas.microsoft.com/office/powerpoint/2010/main" val="1782525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ABAF170-6097-431D-9ABF-F05F668E1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101" y="3687"/>
            <a:ext cx="6097871" cy="685062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98C3920-8056-4DC9-B886-798283BFDF5C}"/>
              </a:ext>
            </a:extLst>
          </p:cNvPr>
          <p:cNvSpPr txBox="1"/>
          <p:nvPr/>
        </p:nvSpPr>
        <p:spPr>
          <a:xfrm>
            <a:off x="2485" y="62948"/>
            <a:ext cx="6086889" cy="67403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5400" dirty="0">
                <a:latin typeface="Georgia"/>
              </a:rPr>
              <a:t>O </a:t>
            </a:r>
            <a:r>
              <a:rPr lang="pt-BR" sz="5400" u="sng" dirty="0">
                <a:solidFill>
                  <a:srgbClr val="1172B7"/>
                </a:solidFill>
                <a:latin typeface="Georgia"/>
              </a:rPr>
              <a:t>PARVO</a:t>
            </a:r>
            <a:r>
              <a:rPr lang="pt-BR" sz="5400" dirty="0">
                <a:latin typeface="Georgia"/>
              </a:rPr>
              <a:t>:</a:t>
            </a:r>
            <a:endParaRPr lang="pt-BR" sz="5400" u="sng" dirty="0">
              <a:solidFill>
                <a:srgbClr val="1172B7"/>
              </a:solidFill>
              <a:latin typeface="Georgia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DEFICIÊNTE MENTAL;</a:t>
            </a: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INOCÊNCIA E SIMPLICIDADE.</a:t>
            </a: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OBJETO: CHAPÉU ESTRANHO.</a:t>
            </a:r>
          </a:p>
        </p:txBody>
      </p:sp>
    </p:spTree>
    <p:extLst>
      <p:ext uri="{BB962C8B-B14F-4D97-AF65-F5344CB8AC3E}">
        <p14:creationId xmlns:p14="http://schemas.microsoft.com/office/powerpoint/2010/main" val="3935491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9BC6007-0742-4617-A4DE-72D1D0175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261" y="-2485"/>
            <a:ext cx="6093833" cy="686297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647EA81-C7D4-43CB-8973-BF23669898EC}"/>
              </a:ext>
            </a:extLst>
          </p:cNvPr>
          <p:cNvSpPr txBox="1"/>
          <p:nvPr/>
        </p:nvSpPr>
        <p:spPr>
          <a:xfrm>
            <a:off x="1657" y="55493"/>
            <a:ext cx="6095585" cy="67403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5400" dirty="0">
                <a:latin typeface="Georgia"/>
              </a:rPr>
              <a:t>O </a:t>
            </a:r>
            <a:r>
              <a:rPr lang="pt-BR" sz="5400" u="sng" dirty="0">
                <a:solidFill>
                  <a:srgbClr val="1172B7"/>
                </a:solidFill>
                <a:latin typeface="Georgia"/>
              </a:rPr>
              <a:t>FRADE</a:t>
            </a:r>
            <a:r>
              <a:rPr lang="pt-BR" sz="5400" dirty="0">
                <a:latin typeface="Georgia"/>
              </a:rPr>
              <a:t>:</a:t>
            </a:r>
            <a:endParaRPr lang="pt-BR" sz="5400" dirty="0">
              <a:latin typeface="Georgia" panose="02040502050405020303" pitchFamily="18" charset="0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CORRUPÇÃO;</a:t>
            </a:r>
            <a:endParaRPr lang="pt-BR" sz="5400" dirty="0">
              <a:latin typeface="Georgia" panose="02040502050405020303" pitchFamily="18" charset="0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LUXÚRIA;</a:t>
            </a:r>
            <a:endParaRPr lang="pt-BR" sz="5400">
              <a:latin typeface="Georgia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OBJETOS: ESPADA E </a:t>
            </a:r>
            <a:endParaRPr lang="pt-BR" sz="5400" dirty="0">
              <a:solidFill>
                <a:srgbClr val="000000"/>
              </a:solidFill>
              <a:latin typeface="Calibri" panose="020F0502020204030204"/>
              <a:cs typeface="Calibri"/>
            </a:endParaRPr>
          </a:p>
          <a:p>
            <a:r>
              <a:rPr lang="pt-BR" sz="5400" dirty="0">
                <a:solidFill>
                  <a:srgbClr val="1172B7"/>
                </a:solidFill>
                <a:latin typeface="Georgia"/>
              </a:rPr>
              <a:t>    FLORENÇA</a:t>
            </a:r>
            <a:endParaRPr lang="pt-BR" sz="5400" dirty="0">
              <a:latin typeface="Calibri" panose="020F0502020204030204"/>
              <a:cs typeface="Calibri"/>
            </a:endParaRPr>
          </a:p>
          <a:p>
            <a:r>
              <a:rPr lang="pt-BR" sz="5400" dirty="0">
                <a:latin typeface="Georgia"/>
              </a:rPr>
              <a:t>    (CAMPONESA        VENAL).</a:t>
            </a:r>
            <a:endParaRPr lang="pt-BR" sz="5400" dirty="0">
              <a:latin typeface="Calibri" panose="020F0502020204030204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8393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F0C08BB-D7DB-4271-B989-8FB6D4B4C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727" y="-954"/>
            <a:ext cx="6091237" cy="685871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E2A7A31-79BD-4D29-94DC-CA06DA113166}"/>
              </a:ext>
            </a:extLst>
          </p:cNvPr>
          <p:cNvSpPr txBox="1"/>
          <p:nvPr/>
        </p:nvSpPr>
        <p:spPr>
          <a:xfrm>
            <a:off x="-1657" y="62948"/>
            <a:ext cx="6140727" cy="67403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5400" dirty="0">
                <a:latin typeface="Georgia"/>
              </a:rPr>
              <a:t>O </a:t>
            </a:r>
            <a:r>
              <a:rPr lang="pt-BR" sz="5400" u="sng" dirty="0">
                <a:solidFill>
                  <a:srgbClr val="1172B7"/>
                </a:solidFill>
                <a:latin typeface="Georgia"/>
              </a:rPr>
              <a:t>ENFORCADO</a:t>
            </a:r>
            <a:r>
              <a:rPr lang="pt-BR" sz="5400" dirty="0">
                <a:latin typeface="Georgia"/>
              </a:rPr>
              <a:t>:</a:t>
            </a:r>
            <a:endParaRPr lang="pt-BR" dirty="0">
              <a:latin typeface="Calibri" panose="020F0502020204030204"/>
              <a:cs typeface="Calibri" panose="020F0502020204030204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PARTE DA CORRUPÇÃO (LARANJA/TESTA DE FERRO);</a:t>
            </a:r>
            <a:endParaRPr lang="pt-BR" dirty="0">
              <a:cs typeface="Calibri" panose="020F0502020204030204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AVAREZA;</a:t>
            </a: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OBJETO: CORDA.</a:t>
            </a:r>
          </a:p>
        </p:txBody>
      </p:sp>
    </p:spTree>
    <p:extLst>
      <p:ext uri="{BB962C8B-B14F-4D97-AF65-F5344CB8AC3E}">
        <p14:creationId xmlns:p14="http://schemas.microsoft.com/office/powerpoint/2010/main" val="2168015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842B12F-1A6A-41BD-BCC8-35B7B3D76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071" y="3519"/>
            <a:ext cx="6095586" cy="685510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8133E1C-6B49-4D9F-8839-CDD7E4B56848}"/>
              </a:ext>
            </a:extLst>
          </p:cNvPr>
          <p:cNvSpPr txBox="1"/>
          <p:nvPr/>
        </p:nvSpPr>
        <p:spPr>
          <a:xfrm>
            <a:off x="185945" y="63776"/>
            <a:ext cx="5909227" cy="67403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5400" dirty="0">
                <a:latin typeface="Georgia"/>
              </a:rPr>
              <a:t>O </a:t>
            </a:r>
            <a:r>
              <a:rPr lang="pt-BR" sz="5400" u="sng" dirty="0">
                <a:solidFill>
                  <a:srgbClr val="1172B7"/>
                </a:solidFill>
                <a:latin typeface="Georgia"/>
              </a:rPr>
              <a:t>ONZENEIRO</a:t>
            </a:r>
            <a:r>
              <a:rPr lang="pt-BR" sz="5400" dirty="0">
                <a:latin typeface="Georgia"/>
              </a:rPr>
              <a:t>:</a:t>
            </a:r>
          </a:p>
          <a:p>
            <a:pPr marL="571500" indent="-571500">
              <a:buFont typeface="Arial"/>
              <a:buChar char="•"/>
            </a:pPr>
            <a:r>
              <a:rPr lang="pt-BR" sz="5400" dirty="0">
                <a:latin typeface="Georgia"/>
              </a:rPr>
              <a:t>USURA (11% DE JUROS AGIOTAGEM);</a:t>
            </a:r>
          </a:p>
          <a:p>
            <a:pPr marL="571500" indent="-571500">
              <a:buFont typeface="Arial"/>
              <a:buChar char="•"/>
            </a:pPr>
            <a:r>
              <a:rPr lang="pt-BR" sz="5400" dirty="0">
                <a:latin typeface="Georgia"/>
              </a:rPr>
              <a:t>AVAREZA;</a:t>
            </a:r>
          </a:p>
          <a:p>
            <a:pPr marL="571500" indent="-571500">
              <a:buFont typeface="Arial"/>
              <a:buChar char="•"/>
            </a:pPr>
            <a:r>
              <a:rPr lang="pt-BR" sz="5400" dirty="0">
                <a:latin typeface="Georgia"/>
              </a:rPr>
              <a:t>OBJETOS: SACOS DE DINHEIRO.</a:t>
            </a:r>
          </a:p>
        </p:txBody>
      </p:sp>
    </p:spTree>
    <p:extLst>
      <p:ext uri="{BB962C8B-B14F-4D97-AF65-F5344CB8AC3E}">
        <p14:creationId xmlns:p14="http://schemas.microsoft.com/office/powerpoint/2010/main" val="2055343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9564597-52A3-431F-B36B-F89274AB3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445" y="2081"/>
            <a:ext cx="6104489" cy="685895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7819CE9-03C4-4C28-B328-2374F933D75D}"/>
              </a:ext>
            </a:extLst>
          </p:cNvPr>
          <p:cNvSpPr txBox="1"/>
          <p:nvPr/>
        </p:nvSpPr>
        <p:spPr>
          <a:xfrm>
            <a:off x="157991" y="474179"/>
            <a:ext cx="5901151" cy="5909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5400" dirty="0">
                <a:latin typeface="Georgia"/>
              </a:rPr>
              <a:t>O </a:t>
            </a:r>
            <a:r>
              <a:rPr lang="pt-BR" sz="5400" u="sng" dirty="0">
                <a:solidFill>
                  <a:srgbClr val="1172B7"/>
                </a:solidFill>
                <a:latin typeface="Georgia"/>
              </a:rPr>
              <a:t>JUIZ</a:t>
            </a:r>
            <a:r>
              <a:rPr lang="pt-BR" sz="5400" dirty="0">
                <a:latin typeface="Georgia"/>
              </a:rPr>
              <a:t>:</a:t>
            </a:r>
            <a:endParaRPr lang="pt-BR" dirty="0">
              <a:latin typeface="Calibri" panose="020F0502020204030204"/>
              <a:cs typeface="Calibri" panose="020F0502020204030204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CORRUPÇÃO (VENDA DE DECISÕES);</a:t>
            </a:r>
            <a:endParaRPr lang="pt-BR" dirty="0">
              <a:latin typeface="Calibri" panose="020F0502020204030204"/>
              <a:cs typeface="Calibri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AVAREZA;</a:t>
            </a: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OBJETO:</a:t>
            </a:r>
          </a:p>
          <a:p>
            <a:r>
              <a:rPr lang="pt-BR" sz="5400" dirty="0">
                <a:latin typeface="Georgia"/>
              </a:rPr>
              <a:t>    MARTELO.</a:t>
            </a:r>
            <a:endParaRPr lang="pt-BR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10978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BABFD47-FF20-4429-9781-1AAD9905B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727"/>
            <a:ext cx="6095663" cy="685054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3386B-EA16-492D-A943-190B0AA83202}"/>
              </a:ext>
            </a:extLst>
          </p:cNvPr>
          <p:cNvSpPr txBox="1"/>
          <p:nvPr/>
        </p:nvSpPr>
        <p:spPr>
          <a:xfrm>
            <a:off x="-1243" y="56322"/>
            <a:ext cx="6096414" cy="67403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5400" dirty="0">
                <a:latin typeface="Georgia"/>
              </a:rPr>
              <a:t>O </a:t>
            </a:r>
            <a:r>
              <a:rPr lang="pt-BR" sz="5400" u="sng" dirty="0">
                <a:solidFill>
                  <a:srgbClr val="1172B7"/>
                </a:solidFill>
                <a:latin typeface="Georgia"/>
              </a:rPr>
              <a:t>CORREGEDOR</a:t>
            </a:r>
            <a:r>
              <a:rPr lang="pt-BR" sz="5400" dirty="0">
                <a:latin typeface="Georgia"/>
              </a:rPr>
              <a:t>:</a:t>
            </a:r>
            <a:endParaRPr lang="pt-BR" sz="5400" dirty="0">
              <a:latin typeface="Georgia" panose="02040502050405020303" pitchFamily="18" charset="0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CORRIGE A JUSTIÇA;  </a:t>
            </a:r>
            <a:endParaRPr lang="pt-BR" sz="5400" dirty="0">
              <a:latin typeface="Georgia" panose="02040502050405020303" pitchFamily="18" charset="0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CORRUPÇÃO BUROCRÁTICA;</a:t>
            </a: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AVAREZA;</a:t>
            </a: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OBJETO: LIVROS.</a:t>
            </a:r>
          </a:p>
        </p:txBody>
      </p:sp>
    </p:spTree>
    <p:extLst>
      <p:ext uri="{BB962C8B-B14F-4D97-AF65-F5344CB8AC3E}">
        <p14:creationId xmlns:p14="http://schemas.microsoft.com/office/powerpoint/2010/main" val="1602249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3DCB78F-3C6E-42EB-967A-6A924E070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00" y="4141"/>
            <a:ext cx="6095172" cy="685013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291FEDD-23DA-4BA6-B15D-C7309948B186}"/>
              </a:ext>
            </a:extLst>
          </p:cNvPr>
          <p:cNvSpPr txBox="1"/>
          <p:nvPr/>
        </p:nvSpPr>
        <p:spPr>
          <a:xfrm>
            <a:off x="309355" y="64190"/>
            <a:ext cx="5782090" cy="67403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5400" dirty="0">
                <a:latin typeface="Georgia"/>
              </a:rPr>
              <a:t>OS </a:t>
            </a:r>
            <a:r>
              <a:rPr lang="pt-BR" sz="5400" u="sng" dirty="0">
                <a:solidFill>
                  <a:srgbClr val="1172B7"/>
                </a:solidFill>
                <a:latin typeface="Georgia"/>
              </a:rPr>
              <a:t>CAVALEIROS</a:t>
            </a:r>
            <a:r>
              <a:rPr lang="pt-BR" sz="5400" dirty="0">
                <a:solidFill>
                  <a:srgbClr val="000000"/>
                </a:solidFill>
                <a:latin typeface="Georgia"/>
              </a:rPr>
              <a:t>:</a:t>
            </a:r>
            <a:endParaRPr lang="pt-BR" dirty="0">
              <a:solidFill>
                <a:srgbClr val="000000"/>
              </a:solidFill>
              <a:latin typeface="Calibri" panose="020F0502020204030204"/>
              <a:cs typeface="Calibri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solidFill>
                  <a:srgbClr val="000000"/>
                </a:solidFill>
                <a:latin typeface="Georgia"/>
              </a:rPr>
              <a:t>GUERREIROS</a:t>
            </a:r>
            <a:r>
              <a:rPr lang="pt-BR" sz="5400" dirty="0">
                <a:latin typeface="Georgia"/>
              </a:rPr>
              <a:t> DE CRISTO;</a:t>
            </a:r>
            <a:endParaRPr lang="pt-BR">
              <a:cs typeface="Calibri"/>
            </a:endParaRP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REFLEXO DA IGREJA;</a:t>
            </a:r>
          </a:p>
          <a:p>
            <a:pPr marL="685800" indent="-685800">
              <a:buFont typeface="Arial"/>
              <a:buChar char="•"/>
            </a:pPr>
            <a:r>
              <a:rPr lang="pt-BR" sz="5400" dirty="0">
                <a:latin typeface="Georgia"/>
              </a:rPr>
              <a:t>OBJETO: MANTO DAS CRUZADAS</a:t>
            </a:r>
          </a:p>
        </p:txBody>
      </p:sp>
    </p:spTree>
    <p:extLst>
      <p:ext uri="{BB962C8B-B14F-4D97-AF65-F5344CB8AC3E}">
        <p14:creationId xmlns:p14="http://schemas.microsoft.com/office/powerpoint/2010/main" val="31315098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589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GIL VICENTE</dc:title>
  <dc:creator>Fernando Petean</dc:creator>
  <cp:lastModifiedBy>Fernando Petean</cp:lastModifiedBy>
  <cp:revision>453</cp:revision>
  <dcterms:created xsi:type="dcterms:W3CDTF">2020-12-06T14:12:18Z</dcterms:created>
  <dcterms:modified xsi:type="dcterms:W3CDTF">2021-05-16T04:29:27Z</dcterms:modified>
</cp:coreProperties>
</file>